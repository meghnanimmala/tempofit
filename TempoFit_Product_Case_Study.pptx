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DC64"/>
                </a:solidFill>
                <a:latin typeface="Aptos"/>
              </a:rPr>
              <a:t>TEMPOFIT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49377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Music that moves
with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5146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FAEC4"/>
                </a:solidFill>
                <a:latin typeface="Aptos"/>
              </a:rPr>
              <a:t>A Spotify-integrated workout playlist generator that turns natural-language workouts, music preferences, and target duration into a structured playlist.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67328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Product case study  •  Next.js  •  TypeScript  •  Spotify Web API  •  OAuth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315968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AEC4"/>
                </a:solidFill>
                <a:latin typeface="Aptos"/>
              </a:rPr>
              <a:t>Role: Product strategy, UX, architecture, implementation, QA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502920"/>
            <a:ext cx="5669280" cy="5806440"/>
          </a:xfrm>
          <a:prstGeom prst="roundRect">
            <a:avLst/>
          </a:prstGeom>
          <a:solidFill>
            <a:srgbClr val="0C131F"/>
          </a:solidFill>
          <a:ln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9-16 1522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804295"/>
            <a:ext cx="5303520" cy="5203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FAEC4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DC64"/>
                </a:solidFill>
                <a:latin typeface="Aptos"/>
              </a:rPr>
              <a:t>TEMPOFIT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Problem → Product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FAEC4"/>
                </a:solidFill>
                <a:latin typeface="Aptos"/>
              </a:rPr>
              <a:t>TempoFit was scoped as a portfolio MVP: small enough to ship, but complete enough to demonstrate product and integration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429000" cy="1874519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65960"/>
            <a:ext cx="30998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DC64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04288"/>
            <a:ext cx="309981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Workout playlists are often static. Users still have to search, sequence songs, and manually estimate whether a playlist fits the workout.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29000" cy="1874519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965960"/>
            <a:ext cx="30998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8EFF"/>
                </a:solidFill>
                <a:latin typeface="Aptos"/>
              </a:rPr>
              <a:t>THE USER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2304288"/>
            <a:ext cx="309981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Describe the workout once, keep control over genre and familiarity, and get a playlist that roughly matches the workout’s duration and phases.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5864" y="1828800"/>
            <a:ext cx="3429000" cy="1874519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1965960"/>
            <a:ext cx="30998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DC64"/>
                </a:solidFill>
                <a:latin typeface="Aptos"/>
              </a:rPr>
              <a:t>THE 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2304288"/>
            <a:ext cx="309981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Spotify connection + preferences + natural-language workout input + phase-based playlist generation + regenerate + save to Spotify.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1605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DC64"/>
                </a:solidFill>
                <a:latin typeface="Aptos"/>
              </a:rPr>
              <a:t>Deliberate non-goals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526280"/>
            <a:ext cx="10789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No Apple Music or multi-provider support</a:t>
            </a:r>
          </a:p>
          <a:p>
            <a:pPr>
              <a:spcAft>
                <a:spcPts val="7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No native mobile app, social features, wearables, or monetization</a:t>
            </a:r>
          </a:p>
          <a:p>
            <a:pPr>
              <a:spcAft>
                <a:spcPts val="7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No production database or ML recommendation model</a:t>
            </a:r>
          </a:p>
          <a:p>
            <a:pPr>
              <a:spcAft>
                <a:spcPts val="7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Focus: prove the end-to-end product experience and technical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FAEC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DC64"/>
                </a:solidFill>
                <a:latin typeface="Aptos"/>
              </a:rPr>
              <a:t>TEMPOFIT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End-to-End Product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FAEC4"/>
                </a:solidFill>
                <a:latin typeface="Aptos"/>
              </a:rPr>
              <a:t>The experience intentionally stays linear: connect → personalize → describe workout → review → save.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642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DC64"/>
                </a:solidFill>
                <a:latin typeface="Aptos"/>
              </a:rPr>
              <a:t>1  CONNECT</a:t>
            </a:r>
          </a:p>
        </p:txBody>
      </p:sp>
      <p:pic>
        <p:nvPicPr>
          <p:cNvPr id="6" name="Picture 5" descr="Screenshot 2026-09-16 1522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929737"/>
            <a:ext cx="2331720" cy="2287828"/>
          </a:xfrm>
          <a:prstGeom prst="rect">
            <a:avLst/>
          </a:prstGeom>
          <a:ln w="12700">
            <a:solidFill>
              <a:srgbClr val="2B3A4E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493008" y="16642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DC64"/>
                </a:solidFill>
                <a:latin typeface="Aptos"/>
              </a:rPr>
              <a:t>2  PERSONALIZE</a:t>
            </a:r>
          </a:p>
        </p:txBody>
      </p:sp>
      <p:pic>
        <p:nvPicPr>
          <p:cNvPr id="8" name="Picture 7" descr="Screenshot 2026-09-16 152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2980093"/>
            <a:ext cx="2331720" cy="2187117"/>
          </a:xfrm>
          <a:prstGeom prst="rect">
            <a:avLst/>
          </a:prstGeom>
          <a:ln w="12700">
            <a:solidFill>
              <a:srgbClr val="2B3A4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391656" y="16642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DC64"/>
                </a:solidFill>
                <a:latin typeface="Aptos"/>
              </a:rPr>
              <a:t>3  DESCRIBE</a:t>
            </a:r>
          </a:p>
        </p:txBody>
      </p:sp>
      <p:pic>
        <p:nvPicPr>
          <p:cNvPr id="10" name="Picture 9" descr="Screenshot 2026-09-16 1525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3037620"/>
            <a:ext cx="2331720" cy="2072062"/>
          </a:xfrm>
          <a:prstGeom prst="rect">
            <a:avLst/>
          </a:prstGeom>
          <a:ln w="12700">
            <a:solidFill>
              <a:srgbClr val="2B3A4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9290304" y="16642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DC64"/>
                </a:solidFill>
                <a:latin typeface="Aptos"/>
              </a:rPr>
              <a:t>4  REVIEW + SAVE</a:t>
            </a:r>
          </a:p>
        </p:txBody>
      </p:sp>
      <p:pic>
        <p:nvPicPr>
          <p:cNvPr id="12" name="Picture 11" descr="Screenshot 2026-09-16 1526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2943982"/>
            <a:ext cx="2331720" cy="2259338"/>
          </a:xfrm>
          <a:prstGeom prst="rect">
            <a:avLst/>
          </a:prstGeom>
          <a:ln w="12700">
            <a:solidFill>
              <a:srgbClr val="2B3A4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FAEC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DC64"/>
                </a:solidFill>
                <a:latin typeface="Aptos"/>
              </a:rPr>
              <a:t>TEMPOFIT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FAEC4"/>
                </a:solidFill>
                <a:latin typeface="Aptos"/>
              </a:rPr>
              <a:t>A deliberately lightweight architecture: client-side preferences, server-side Spotify calls, deterministic parsing and playlist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1920240" cy="91440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148840"/>
            <a:ext cx="15910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DC64"/>
                </a:solidFill>
                <a:latin typeface="Aptos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487168"/>
            <a:ext cx="15910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Workout + duration
Genres + 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011680"/>
            <a:ext cx="1965960" cy="91440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6392" y="2148840"/>
            <a:ext cx="16367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8EFF"/>
                </a:solidFill>
                <a:latin typeface="Aptos"/>
              </a:rPr>
              <a:t>NEXT.JS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487168"/>
            <a:ext cx="1636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App Router
React + TypeScript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417320"/>
            <a:ext cx="2057400" cy="91440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1554480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8EFF"/>
                </a:solidFill>
                <a:latin typeface="Aptos"/>
              </a:rPr>
              <a:t>WORKOUT 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1892808"/>
            <a:ext cx="1728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Natural language →
structured parameters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2743200"/>
            <a:ext cx="2057400" cy="91440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2" y="2880360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8EFF"/>
                </a:solidFill>
                <a:latin typeface="Aptos"/>
              </a:rPr>
              <a:t>PLAYLIST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3218688"/>
            <a:ext cx="1728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Warmup / main / cooldown
Duration matching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417320"/>
            <a:ext cx="2011680" cy="91440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2" y="1554480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8EFF"/>
                </a:solidFill>
                <a:latin typeface="Aptos"/>
              </a:rPr>
              <a:t>AUTH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92808"/>
            <a:ext cx="1682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Spotify OAuth
Access + refresh tokens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2743200"/>
            <a:ext cx="2011680" cy="91440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82712" y="2880360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8EFF"/>
                </a:solidFill>
                <a:latin typeface="Aptos"/>
              </a:rPr>
              <a:t>SEARCH / SAVE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2712" y="3218688"/>
            <a:ext cx="1682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Track search
Create private playlist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2011680"/>
            <a:ext cx="1417320" cy="91440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2148840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DC64"/>
                </a:solidFill>
                <a:latin typeface="Aptos"/>
              </a:rPr>
              <a:t>SPOTIFY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14432" y="2487168"/>
            <a:ext cx="1088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Web API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06040" y="2468880"/>
            <a:ext cx="365760" cy="0"/>
          </a:xfrm>
          <a:prstGeom prst="line">
            <a:avLst/>
          </a:prstGeom>
          <a:ln w="19050">
            <a:solidFill>
              <a:srgbClr val="9FA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937760" y="1874519"/>
            <a:ext cx="365760" cy="594361"/>
          </a:xfrm>
          <a:prstGeom prst="line">
            <a:avLst/>
          </a:prstGeom>
          <a:ln w="19050">
            <a:solidFill>
              <a:srgbClr val="9FA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937760" y="2468880"/>
            <a:ext cx="365760" cy="731520"/>
          </a:xfrm>
          <a:prstGeom prst="line">
            <a:avLst/>
          </a:prstGeom>
          <a:ln w="19050">
            <a:solidFill>
              <a:srgbClr val="9FA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360920" y="1874519"/>
            <a:ext cx="457200" cy="0"/>
          </a:xfrm>
          <a:prstGeom prst="line">
            <a:avLst/>
          </a:prstGeom>
          <a:ln w="19050">
            <a:solidFill>
              <a:srgbClr val="9FA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60920" y="3200400"/>
            <a:ext cx="457200" cy="0"/>
          </a:xfrm>
          <a:prstGeom prst="line">
            <a:avLst/>
          </a:prstGeom>
          <a:ln w="19050">
            <a:solidFill>
              <a:srgbClr val="9FA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829800" y="1874519"/>
            <a:ext cx="320040" cy="457201"/>
          </a:xfrm>
          <a:prstGeom prst="line">
            <a:avLst/>
          </a:prstGeom>
          <a:ln w="19050">
            <a:solidFill>
              <a:srgbClr val="9FA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829800" y="2606040"/>
            <a:ext cx="320040" cy="594360"/>
          </a:xfrm>
          <a:prstGeom prst="line">
            <a:avLst/>
          </a:prstGeom>
          <a:ln w="19050">
            <a:solidFill>
              <a:srgbClr val="9FA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3232" y="43159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DC64"/>
                </a:solidFill>
                <a:latin typeface="Aptos"/>
              </a:rPr>
              <a:t>Key implementation choices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645152"/>
            <a:ext cx="10789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Preferences stored in localStorage for the MVP; no database required.</a:t>
            </a:r>
          </a:p>
          <a:p>
            <a:pPr>
              <a:spcAft>
                <a:spcPts val="7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Spotify Client Secret remains server-side; OAuth uses a local redirect callback.</a:t>
            </a:r>
          </a:p>
          <a:p>
            <a:pPr>
              <a:spcAft>
                <a:spcPts val="7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Automatic refresh-token flow recovers when the access token expires.</a:t>
            </a:r>
          </a:p>
          <a:p>
            <a:pPr>
              <a:spcAft>
                <a:spcPts val="7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Recommendation behavior is rule-based and explainable rather than ML-driven.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FAEC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DC64"/>
                </a:solidFill>
                <a:latin typeface="Aptos"/>
              </a:rPr>
              <a:t>TEMPOFIT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Constraints → Engineering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FAEC4"/>
                </a:solidFill>
                <a:latin typeface="Aptos"/>
              </a:rPr>
              <a:t>The hardest part was not building more features; it was adapting the product when the external API could not support the original recommendation approach.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DC64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1783080"/>
            <a:ext cx="2971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Spotify recommendation / audio-analysis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1783080"/>
            <a:ext cx="3794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AEC4"/>
                </a:solidFill>
                <a:latin typeface="Aptos"/>
              </a:rPr>
              <a:t>Reworked recommendation architecture around curated Familiar vs. Discover artist pools and Spotify Search.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1783080"/>
            <a:ext cx="3154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Preserved user control without depending on restricted endpoints.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715768"/>
            <a:ext cx="10808208" cy="9144"/>
          </a:xfrm>
          <a:prstGeom prst="rect">
            <a:avLst/>
          </a:prstGeom>
          <a:solidFill>
            <a:srgbClr val="2B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26079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DC64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880360"/>
            <a:ext cx="2971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Workout duration is not equal to exact song lengths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880360"/>
            <a:ext cx="3794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AEC4"/>
                </a:solidFill>
                <a:latin typeface="Aptos"/>
              </a:rPr>
              <a:t>Split playlists into warmup, main, and cooldown targets, then selected tracks with deterministic duration heuristics.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2880360"/>
            <a:ext cx="3154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Generated playlists that stay close to the requested workout length.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813048"/>
            <a:ext cx="10808208" cy="9144"/>
          </a:xfrm>
          <a:prstGeom prst="rect">
            <a:avLst/>
          </a:prstGeom>
          <a:solidFill>
            <a:srgbClr val="2B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23359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DC6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977639"/>
            <a:ext cx="2971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OAuth access tokens expire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3977639"/>
            <a:ext cx="3794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AEC4"/>
                </a:solidFill>
                <a:latin typeface="Aptos"/>
              </a:rPr>
              <a:t>Implemented a refresh-token endpoint and retry path rather than forcing the user to reconnect.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3977639"/>
            <a:ext cx="3154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Maintained the playlist flow after token expiration.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910327"/>
            <a:ext cx="10808208" cy="9144"/>
          </a:xfrm>
          <a:prstGeom prst="rect">
            <a:avLst/>
          </a:prstGeom>
          <a:solidFill>
            <a:srgbClr val="2B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1206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DC64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5074920"/>
            <a:ext cx="2971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External API calls can fail or return weak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5074920"/>
            <a:ext cx="3794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AEC4"/>
                </a:solidFill>
                <a:latin typeface="Aptos"/>
              </a:rPr>
              <a:t>Added fallback behavior, regeneration, and test coverage around search, auth, and playlist creation.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5074920"/>
            <a:ext cx="3154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Made failures recoverable instead of dead-ending the experience.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1508760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DC64"/>
                </a:solidFill>
                <a:latin typeface="Aptos"/>
              </a:rPr>
              <a:t>CONSTRAINT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1508760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A8EFF"/>
                </a:solidFill>
                <a:latin typeface="Aptos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1508760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DC64"/>
                </a:solidFill>
                <a:latin typeface="Aptos"/>
              </a:rPr>
              <a:t>WHY IT MATTERED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FAEC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DC64"/>
                </a:solidFill>
                <a:latin typeface="Aptos"/>
              </a:rPr>
              <a:t>TEMPOFIT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Validation &amp;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FAEC4"/>
                </a:solidFill>
                <a:latin typeface="Aptos"/>
              </a:rPr>
              <a:t>Testing focused on the flows most likely to break: duration matching, regeneration, authentication, and saving back to Spotify.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514600" cy="132588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20240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DC64"/>
                </a:solidFill>
                <a:latin typeface="Aptos"/>
              </a:rPr>
              <a:t>15–45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258568"/>
            <a:ext cx="2185416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Playlist generation validated across short, medium, and longer workout targets.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783080"/>
            <a:ext cx="2514600" cy="132588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8EFF"/>
                </a:solidFill>
                <a:latin typeface="Aptos"/>
              </a:rPr>
              <a:t>TOKEN REFRESH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58568"/>
            <a:ext cx="2185416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Manually removed the access cookie and verified automatic recovery.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17336" y="1783080"/>
            <a:ext cx="2514600" cy="132588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920240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DC64"/>
                </a:solidFill>
                <a:latin typeface="Aptos"/>
              </a:rPr>
              <a:t>REGENERATION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258568"/>
            <a:ext cx="2185416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Verified a user can request a new playlist without restarting the 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1783080"/>
            <a:ext cx="2514600" cy="132588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1920240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8EFF"/>
                </a:solidFill>
                <a:latin typeface="Aptos"/>
              </a:rPr>
              <a:t>SPOTIFY SAVE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2258568"/>
            <a:ext cx="2185416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Created a private Spotify playlist and confirmed tracks were added successfully.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45643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DC64"/>
                </a:solidFill>
                <a:latin typeface="Aptos"/>
              </a:rPr>
              <a:t>Example end-to-end result</a:t>
            </a:r>
          </a:p>
        </p:txBody>
      </p:sp>
      <p:pic>
        <p:nvPicPr>
          <p:cNvPr id="18" name="Picture 17" descr="Screenshot 2026-09-16 1527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735" y="3767328"/>
            <a:ext cx="2877312" cy="2487168"/>
          </a:xfrm>
          <a:prstGeom prst="rect">
            <a:avLst/>
          </a:prstGeom>
          <a:ln w="12700">
            <a:solidFill>
              <a:srgbClr val="2B3A4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897880" y="379476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30-minute Country workout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4224528"/>
            <a:ext cx="4846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AEC4"/>
                </a:solidFill>
                <a:latin typeface="Aptos"/>
              </a:rPr>
              <a:t>TempoFit generated and saved an 8-song Spotify playlist at 31:06 for a 30:00 target.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956048"/>
            <a:ext cx="49834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t>• Verified Familiar / Discover preference changes the candidate pool.</a:t>
            </a:r>
          </a:p>
          <a:p>
            <a:pPr>
              <a:spcAft>
                <a:spcPts val="700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t>• Production build completed successfully.</a:t>
            </a:r>
          </a:p>
          <a:p>
            <a:pPr>
              <a:spcAft>
                <a:spcPts val="700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t>• Secret scan confirmed no Spotify client secret was committed.</a:t>
            </a:r>
          </a:p>
          <a:p>
            <a:pPr>
              <a:spcAft>
                <a:spcPts val="700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t>• Known limitation: heuristic matching aims for approximate—not exact—duration.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FAEC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DC64"/>
                </a:solidFill>
                <a:latin typeface="Aptos"/>
              </a:rPr>
              <a:t>TEMPOFIT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What I’d Build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FAEC4"/>
                </a:solidFill>
                <a:latin typeface="Aptos"/>
              </a:rPr>
              <a:t>The MVP proves the workflow. The next phase would focus on production readiness and richer personalization—not simply adding more screens.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3429000" cy="146304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20240"/>
            <a:ext cx="30998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DC64"/>
                </a:solidFill>
                <a:latin typeface="Aptos"/>
              </a:rPr>
              <a:t>01  PRODUCTION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258568"/>
            <a:ext cx="309981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Move beyond local portfolio OAuth/session handling with hardened session storage, deployment-safe redirects, and production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83080"/>
            <a:ext cx="3429000" cy="146304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920240"/>
            <a:ext cx="30998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8EFF"/>
                </a:solidFill>
                <a:latin typeface="Aptos"/>
              </a:rPr>
              <a:t>02  PERSISTENT USER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2258568"/>
            <a:ext cx="309981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Add a database for preferences, playlist history, saved workout templates, and cross-device continuity.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5864" y="1783080"/>
            <a:ext cx="3429000" cy="146304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1920240"/>
            <a:ext cx="30998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DC64"/>
                </a:solidFill>
                <a:latin typeface="Aptos"/>
              </a:rPr>
              <a:t>03  BETTER PERSONALIZATION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2258568"/>
            <a:ext cx="309981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Use permitted listening signals or richer user feedback to evolve beyond curated pools while keeping recommendations explainable.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20440"/>
            <a:ext cx="3429000" cy="146304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657600"/>
            <a:ext cx="30998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DC64"/>
                </a:solidFill>
                <a:latin typeface="Aptos"/>
              </a:rPr>
              <a:t>04  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995928"/>
            <a:ext cx="309981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Instrument API failures, auth errors, generation latency, and save success so integration health can be measured.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3520440"/>
            <a:ext cx="3429000" cy="146304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3657600"/>
            <a:ext cx="30998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8EFF"/>
                </a:solidFill>
                <a:latin typeface="Aptos"/>
              </a:rPr>
              <a:t>05  USER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3995928"/>
            <a:ext cx="309981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Run structured usability tests and measure whether generated playlists actually reduce setup time and improve workout fit.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5864" y="3520440"/>
            <a:ext cx="3429000" cy="146304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B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0456" y="3657600"/>
            <a:ext cx="30998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DC64"/>
                </a:solidFill>
                <a:latin typeface="Aptos"/>
              </a:rPr>
              <a:t>06  PLATFORM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3995928"/>
            <a:ext cx="309981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Evaluate additional music providers only after the core Spotify experience and retention signals justify the added complexity.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5321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DC64"/>
                </a:solidFill>
                <a:latin typeface="Aptos"/>
              </a:rPr>
              <a:t>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8064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TempoFit demonstrates end-to-end ownership: product scoping, UX, API integration, architecture tradeoffs, debugging, QA, and a working Spotify output.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FAEC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